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75"/>
    <p:restoredTop sz="94623"/>
  </p:normalViewPr>
  <p:slideViewPr>
    <p:cSldViewPr snapToGrid="0">
      <p:cViewPr varScale="1">
        <p:scale>
          <a:sx n="169" d="100"/>
          <a:sy n="169" d="100"/>
        </p:scale>
        <p:origin x="29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A173-C20C-654E-BBD4-01566C4CADA4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503839-C895-7747-B256-8B7CA1FCEF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19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503839-C895-7747-B256-8B7CA1FCEFA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735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D69BE-C090-CF84-5EF2-6BBCA323DF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67B29D-A09E-8125-A49E-59B535B59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E438C-BDCA-A3E9-FC58-5256DF256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1D2F4-778C-693B-AF8D-A81A96687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B4EDF-D408-83FC-C256-C3017CE5F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09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C9652-3261-0AD5-2C26-2A0D3A675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26F66-06D6-A331-E2AF-B3E9A342A1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0BA7A-1B6B-1997-C4DD-5A536578D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E262D-F956-C777-47B8-B9A5A5411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DF091F-35E8-7DE0-8823-A93DD0DB4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858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628F8-7D65-5FE4-E08B-73B18BB5F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24780B-2996-EEF0-D99D-8224BCC7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AA2D2-1419-4D75-C055-19C56C855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1D9AC9-B186-7B20-8D00-80D821456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3C4D1-408D-A4B1-D205-6EF5F938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863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EEED8-CBD8-083A-4B10-CA777910F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1EFE6-F389-695E-64E1-5C750B29F8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C14F65-66D6-A580-A87F-764B21682B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EFB447-A6CC-1BDF-2C17-6E09D8A0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544F5D-9F47-30D9-CF5E-1FEC5E832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26A19A-EC6C-8C27-4DFB-D65AD04E3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141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CC8C-0504-D02A-A3C1-2B88D1306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8D6B5A-5485-DF4B-47C1-C422C1296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97FB4-1A5E-408B-8190-84F329FCC4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C112E0-2349-F811-4219-23BCD0AAC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0B561B-0F3E-D45D-9A5F-CA96168A1A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213BF5-E1EE-8B70-7852-2A76E892D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F0DFED-D6F2-A312-FBBE-7BCF27301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4981CD-D979-C1F4-A892-57E3A4DB2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61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4FA3F-3181-2376-FA5A-7177BC1F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12CE1A-1977-DFDF-AF02-7AF70DED1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AC334F-7E2E-7690-24C6-35DAEAC43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A6F5D-8634-C912-7E29-C5E702A69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273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B3E6CA-DF64-9E8D-C6A9-E39912515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E22DCD-72DC-8AB4-EF43-20E23A8B3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455F34-DAAF-6455-6D4E-AB1532C0B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35FA6-4518-8C98-EEDE-4FA77BA5C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CC2C3-349C-A8A9-D908-2E59E1931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EF96CC-19BE-F38D-9DF9-737EFD2FEF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0B764-CA69-59C6-FDCA-A6DA3481F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52F9D-CAD2-9591-B488-8083DA5FA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F6874-AA3A-1133-86C3-961C09119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847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A67ED-BB71-9C94-2D79-B6858642E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C2623B-B8C9-C6BE-1446-DACFE2C885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A4CE6F-F06D-C5D6-E260-99CEF0D47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538D16-6DC9-BEC6-0389-A92C050A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7BECF7-5730-9EB9-4CCB-050275FDA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3D894F-F8B0-868A-43C1-F0FAC62A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18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1E166-1FB2-189D-7891-A03E27ECB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A819D-5A74-269E-FB87-34305B7C5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450C8-7200-2711-6853-9E9635E7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FCE3E-0668-ADAD-A7D7-DCC5C4FBF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2F37B-F3F9-416F-02F0-C08DF212A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556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3177B3-3E48-E4E3-EFBC-C9440B4250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A7687-EDEF-1077-CBEA-9628AC90B6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F408F-D250-1E79-E0D1-09FF357B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151CC-35AC-14DD-CF57-A2E68DA3B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BE994-F70E-40AB-249E-D33D0F4C7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11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360698-A82A-C3A5-F2BE-943135790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38896-46BB-4737-94DA-4AC50BFA0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70715-EDEC-FF9A-6AFB-5191DC8FC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B636A6-3787-D54C-97B5-792BCE062A68}" type="datetimeFigureOut">
              <a:rPr lang="en-US" smtClean="0"/>
              <a:t>2/13/26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7D407-EE3A-2F66-553D-073E18540B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1DC65-98CF-DAD6-DEEC-BC17F8B756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6E7284-F6C6-7144-9B54-C15AE2C996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753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A5501-0DC7-C792-480C-2C23A37801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Abstract Algebra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AC797A-40B5-9F31-0EA3-4A9FBD606F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Figures and Tables</a:t>
            </a:r>
          </a:p>
        </p:txBody>
      </p:sp>
    </p:spTree>
    <p:extLst>
      <p:ext uri="{BB962C8B-B14F-4D97-AF65-F5344CB8AC3E}">
        <p14:creationId xmlns:p14="http://schemas.microsoft.com/office/powerpoint/2010/main" val="45054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B0F2B-B364-7B40-9FB5-B2CB4C09E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433" y="448253"/>
            <a:ext cx="2214838" cy="1388104"/>
          </a:xfrm>
        </p:spPr>
        <p:txBody>
          <a:bodyPr>
            <a:normAutofit fontScale="90000"/>
          </a:bodyPr>
          <a:lstStyle/>
          <a:p>
            <a:r>
              <a:rPr lang="en-US" dirty="0"/>
              <a:t>Class Hierarchy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B3E6F-FF6D-BC4E-627B-C3B8BF4D15CD}"/>
              </a:ext>
            </a:extLst>
          </p:cNvPr>
          <p:cNvSpPr txBox="1"/>
          <p:nvPr/>
        </p:nvSpPr>
        <p:spPr>
          <a:xfrm>
            <a:off x="4152394" y="1409276"/>
            <a:ext cx="9236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Magma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259EFC-4056-5411-4EF5-968B74C115D8}"/>
              </a:ext>
            </a:extLst>
          </p:cNvPr>
          <p:cNvSpPr txBox="1"/>
          <p:nvPr/>
        </p:nvSpPr>
        <p:spPr>
          <a:xfrm>
            <a:off x="3268303" y="2358763"/>
            <a:ext cx="13420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Quasigroup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EBCC6A-179A-8123-BF1D-9819A4A92C22}"/>
              </a:ext>
            </a:extLst>
          </p:cNvPr>
          <p:cNvSpPr txBox="1"/>
          <p:nvPr/>
        </p:nvSpPr>
        <p:spPr>
          <a:xfrm>
            <a:off x="3599262" y="3149741"/>
            <a:ext cx="6837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65B7E7-E062-12FE-A2F4-A855A9337C95}"/>
              </a:ext>
            </a:extLst>
          </p:cNvPr>
          <p:cNvSpPr txBox="1"/>
          <p:nvPr/>
        </p:nvSpPr>
        <p:spPr>
          <a:xfrm>
            <a:off x="4748867" y="2358763"/>
            <a:ext cx="125874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Semigroup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1AEFA-5C47-C68C-7ECA-2ACC9499EB57}"/>
              </a:ext>
            </a:extLst>
          </p:cNvPr>
          <p:cNvSpPr txBox="1"/>
          <p:nvPr/>
        </p:nvSpPr>
        <p:spPr>
          <a:xfrm>
            <a:off x="4912408" y="3149741"/>
            <a:ext cx="93166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Monoid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1DAA16-F6C2-E2BE-7B09-22EFF3D938BE}"/>
              </a:ext>
            </a:extLst>
          </p:cNvPr>
          <p:cNvSpPr txBox="1"/>
          <p:nvPr/>
        </p:nvSpPr>
        <p:spPr>
          <a:xfrm>
            <a:off x="4974892" y="3940719"/>
            <a:ext cx="80669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Group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8B4685-A99D-5EB4-3B54-0544F7F37761}"/>
              </a:ext>
            </a:extLst>
          </p:cNvPr>
          <p:cNvSpPr txBox="1"/>
          <p:nvPr/>
        </p:nvSpPr>
        <p:spPr>
          <a:xfrm>
            <a:off x="5069501" y="4547031"/>
            <a:ext cx="61747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98D69-96EF-3CDD-37CA-D04733891D7A}"/>
              </a:ext>
            </a:extLst>
          </p:cNvPr>
          <p:cNvSpPr txBox="1"/>
          <p:nvPr/>
        </p:nvSpPr>
        <p:spPr>
          <a:xfrm>
            <a:off x="5043981" y="5153343"/>
            <a:ext cx="66851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7EDEC3-C8B4-DDFE-66D8-C217A4A65813}"/>
              </a:ext>
            </a:extLst>
          </p:cNvPr>
          <p:cNvSpPr txBox="1"/>
          <p:nvPr/>
        </p:nvSpPr>
        <p:spPr>
          <a:xfrm>
            <a:off x="6907334" y="4968677"/>
            <a:ext cx="145770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VectorSpace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940B4E-7487-C9AF-63D4-6ECAE4D08D51}"/>
              </a:ext>
            </a:extLst>
          </p:cNvPr>
          <p:cNvSpPr txBox="1"/>
          <p:nvPr/>
        </p:nvSpPr>
        <p:spPr>
          <a:xfrm>
            <a:off x="7169554" y="4177699"/>
            <a:ext cx="9332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Module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36C84C1-B936-3CD9-C4C7-32AE98B503F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3939353" y="1778608"/>
            <a:ext cx="674867" cy="580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37F10B1-A918-6EA5-537A-A42D84DA110C}"/>
              </a:ext>
            </a:extLst>
          </p:cNvPr>
          <p:cNvCxnSpPr>
            <a:stCxn id="4" idx="2"/>
            <a:endCxn id="7" idx="0"/>
          </p:cNvCxnSpPr>
          <p:nvPr/>
        </p:nvCxnSpPr>
        <p:spPr>
          <a:xfrm>
            <a:off x="4614220" y="1778608"/>
            <a:ext cx="764019" cy="580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601927-E942-9A76-95A0-602E3C97934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3939353" y="2728095"/>
            <a:ext cx="1798" cy="421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48B7B4-7012-1658-DA5D-0E7C960F8227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5378239" y="2728095"/>
            <a:ext cx="2" cy="421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0F7E948-D73A-9E48-A473-25027EB4CD58}"/>
              </a:ext>
            </a:extLst>
          </p:cNvPr>
          <p:cNvCxnSpPr>
            <a:stCxn id="8" idx="2"/>
            <a:endCxn id="9" idx="0"/>
          </p:cNvCxnSpPr>
          <p:nvPr/>
        </p:nvCxnSpPr>
        <p:spPr>
          <a:xfrm flipH="1">
            <a:off x="5378240" y="3519073"/>
            <a:ext cx="1" cy="421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998AF41-4797-0FE8-A46B-E800CD91EA3B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378240" y="4310051"/>
            <a:ext cx="0" cy="236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DBC1D45-9EBD-818A-03A9-259B0C475CD4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flipH="1">
            <a:off x="5378239" y="4916363"/>
            <a:ext cx="1" cy="236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3ED8F1A-9E81-D654-849D-9B198A0BB3FB}"/>
              </a:ext>
            </a:extLst>
          </p:cNvPr>
          <p:cNvSpPr txBox="1"/>
          <p:nvPr/>
        </p:nvSpPr>
        <p:spPr>
          <a:xfrm>
            <a:off x="8780531" y="4830177"/>
            <a:ext cx="16097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Ndimensional</a:t>
            </a:r>
            <a:endParaRPr lang="en-US" dirty="0"/>
          </a:p>
          <a:p>
            <a:pPr algn="ctr"/>
            <a:r>
              <a:rPr lang="en-US" dirty="0" err="1"/>
              <a:t>VectorSpace</a:t>
            </a:r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094043-AD46-F541-59E0-A321B7DF1BD4}"/>
              </a:ext>
            </a:extLst>
          </p:cNvPr>
          <p:cNvSpPr txBox="1"/>
          <p:nvPr/>
        </p:nvSpPr>
        <p:spPr>
          <a:xfrm>
            <a:off x="8780531" y="4039199"/>
            <a:ext cx="16097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Ndimensional</a:t>
            </a:r>
            <a:endParaRPr lang="en-US" dirty="0"/>
          </a:p>
          <a:p>
            <a:pPr algn="ctr"/>
            <a:r>
              <a:rPr lang="en-US" dirty="0"/>
              <a:t>Module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A71155-84A6-8C5B-24AD-EDD59340EE69}"/>
              </a:ext>
            </a:extLst>
          </p:cNvPr>
          <p:cNvSpPr txBox="1"/>
          <p:nvPr/>
        </p:nvSpPr>
        <p:spPr>
          <a:xfrm>
            <a:off x="4974892" y="1866320"/>
            <a:ext cx="11449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associativity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DCCDBBD-3F46-8164-93B4-B91F38E89FB7}"/>
              </a:ext>
            </a:extLst>
          </p:cNvPr>
          <p:cNvSpPr txBox="1"/>
          <p:nvPr/>
        </p:nvSpPr>
        <p:spPr>
          <a:xfrm>
            <a:off x="5367857" y="2735378"/>
            <a:ext cx="758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identity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5344A0-D795-1F9A-9DC7-A6AED118EF96}"/>
              </a:ext>
            </a:extLst>
          </p:cNvPr>
          <p:cNvSpPr txBox="1"/>
          <p:nvPr/>
        </p:nvSpPr>
        <p:spPr>
          <a:xfrm>
            <a:off x="3200101" y="2735378"/>
            <a:ext cx="758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identity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B21F4B4-E597-BDBE-C624-3E3E45EBDC09}"/>
              </a:ext>
            </a:extLst>
          </p:cNvPr>
          <p:cNvSpPr txBox="1"/>
          <p:nvPr/>
        </p:nvSpPr>
        <p:spPr>
          <a:xfrm>
            <a:off x="5390528" y="3528865"/>
            <a:ext cx="1032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Invertibility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94E3A5-BCD0-7F8D-AE0B-AFA3DC9A2034}"/>
              </a:ext>
            </a:extLst>
          </p:cNvPr>
          <p:cNvSpPr txBox="1"/>
          <p:nvPr/>
        </p:nvSpPr>
        <p:spPr>
          <a:xfrm>
            <a:off x="3327359" y="1866320"/>
            <a:ext cx="949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divisibility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ACE94A9-2899-D3A3-360A-130D0FD53327}"/>
              </a:ext>
            </a:extLst>
          </p:cNvPr>
          <p:cNvCxnSpPr/>
          <p:nvPr/>
        </p:nvCxnSpPr>
        <p:spPr>
          <a:xfrm>
            <a:off x="4276786" y="3519073"/>
            <a:ext cx="698106" cy="42164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AD937BD8-7F4A-D2C3-3B36-BE7680221482}"/>
              </a:ext>
            </a:extLst>
          </p:cNvPr>
          <p:cNvSpPr txBox="1"/>
          <p:nvPr/>
        </p:nvSpPr>
        <p:spPr>
          <a:xfrm>
            <a:off x="3523943" y="3634664"/>
            <a:ext cx="11449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bg1">
                    <a:lumMod val="65000"/>
                  </a:schemeClr>
                </a:solidFill>
              </a:rPr>
              <a:t>associativity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53D799B-88FB-0EFA-3408-B6B212E7FC2B}"/>
              </a:ext>
            </a:extLst>
          </p:cNvPr>
          <p:cNvSpPr txBox="1"/>
          <p:nvPr/>
        </p:nvSpPr>
        <p:spPr>
          <a:xfrm>
            <a:off x="3867410" y="676244"/>
            <a:ext cx="14859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FiniteAlgebra</a:t>
            </a:r>
            <a:endParaRPr lang="en-US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049567E-74E6-A974-558F-A057D3254596}"/>
              </a:ext>
            </a:extLst>
          </p:cNvPr>
          <p:cNvCxnSpPr>
            <a:cxnSpLocks/>
            <a:stCxn id="78" idx="2"/>
            <a:endCxn id="4" idx="0"/>
          </p:cNvCxnSpPr>
          <p:nvPr/>
        </p:nvCxnSpPr>
        <p:spPr>
          <a:xfrm>
            <a:off x="4610402" y="1045576"/>
            <a:ext cx="3818" cy="363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8048652-5C70-A340-B5AB-E1817B9391C7}"/>
              </a:ext>
            </a:extLst>
          </p:cNvPr>
          <p:cNvSpPr txBox="1"/>
          <p:nvPr/>
        </p:nvSpPr>
        <p:spPr>
          <a:xfrm>
            <a:off x="6992199" y="2977370"/>
            <a:ext cx="1287981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Finite</a:t>
            </a:r>
          </a:p>
          <a:p>
            <a:pPr algn="ctr"/>
            <a:r>
              <a:rPr lang="en-US" dirty="0"/>
              <a:t>Composite</a:t>
            </a:r>
          </a:p>
          <a:p>
            <a:pPr algn="ctr"/>
            <a:r>
              <a:rPr lang="en-US" dirty="0"/>
              <a:t>Algebra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1C72590-3B0A-AB2B-A8C4-57CC9F9FBDE6}"/>
              </a:ext>
            </a:extLst>
          </p:cNvPr>
          <p:cNvCxnSpPr>
            <a:cxnSpLocks/>
            <a:stCxn id="83" idx="2"/>
            <a:endCxn id="13" idx="0"/>
          </p:cNvCxnSpPr>
          <p:nvPr/>
        </p:nvCxnSpPr>
        <p:spPr>
          <a:xfrm flipH="1">
            <a:off x="7636189" y="3900700"/>
            <a:ext cx="1" cy="2769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3A2F2FC-5290-8CED-D06A-C18281569569}"/>
              </a:ext>
            </a:extLst>
          </p:cNvPr>
          <p:cNvCxnSpPr>
            <a:cxnSpLocks/>
            <a:stCxn id="13" idx="2"/>
            <a:endCxn id="12" idx="0"/>
          </p:cNvCxnSpPr>
          <p:nvPr/>
        </p:nvCxnSpPr>
        <p:spPr>
          <a:xfrm flipH="1">
            <a:off x="7636188" y="4547031"/>
            <a:ext cx="1" cy="421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FCB7A106-EF4C-B808-F7DD-088EAA12087A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781588" y="4125385"/>
            <a:ext cx="1387966" cy="23698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81BE1019-009B-847F-9F5A-4D38BC69D5A1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5781588" y="4125385"/>
            <a:ext cx="1125746" cy="1027958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5D3AC2E-3D6A-A342-E288-453928ED1233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 flipV="1">
            <a:off x="5686978" y="4362365"/>
            <a:ext cx="1482576" cy="369332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1B5FC531-8353-A03A-02B7-B0E83E6026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 flipV="1">
            <a:off x="5712497" y="5153343"/>
            <a:ext cx="1194837" cy="18466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EA490DB7-FE54-F64F-1BC4-8810A3DF3136}"/>
              </a:ext>
            </a:extLst>
          </p:cNvPr>
          <p:cNvCxnSpPr>
            <a:cxnSpLocks/>
            <a:stCxn id="13" idx="3"/>
            <a:endCxn id="60" idx="1"/>
          </p:cNvCxnSpPr>
          <p:nvPr/>
        </p:nvCxnSpPr>
        <p:spPr>
          <a:xfrm>
            <a:off x="8102823" y="4362365"/>
            <a:ext cx="6777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AE88354-471D-461F-708B-29D8BC1B096C}"/>
              </a:ext>
            </a:extLst>
          </p:cNvPr>
          <p:cNvCxnSpPr>
            <a:cxnSpLocks/>
            <a:stCxn id="12" idx="3"/>
            <a:endCxn id="59" idx="1"/>
          </p:cNvCxnSpPr>
          <p:nvPr/>
        </p:nvCxnSpPr>
        <p:spPr>
          <a:xfrm>
            <a:off x="8365041" y="5153343"/>
            <a:ext cx="415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7642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32</Words>
  <Application>Microsoft Macintosh PowerPoint</Application>
  <PresentationFormat>Widescreen</PresentationFormat>
  <Paragraphs>28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Abstract Algebra</vt:lpstr>
      <vt:lpstr>Class Hierarchy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Alfred Reich</dc:creator>
  <cp:lastModifiedBy>Alfred Reich</cp:lastModifiedBy>
  <cp:revision>2</cp:revision>
  <dcterms:created xsi:type="dcterms:W3CDTF">2026-02-14T04:34:38Z</dcterms:created>
  <dcterms:modified xsi:type="dcterms:W3CDTF">2026-02-14T05:18:49Z</dcterms:modified>
</cp:coreProperties>
</file>